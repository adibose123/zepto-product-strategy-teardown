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1259"/>
              </a:solidFill>
              <a:effectLst/>
            </c:spPr>
          </c:dPt>
          <c:dPt>
            <c:idx val="1"/>
            <c:bubble3D val="0"/>
            <c:spPr>
              <a:solidFill>
                <a:srgbClr val="FF4D5E"/>
              </a:solidFill>
              <a:effectLst/>
            </c:spPr>
          </c:dPt>
          <c:dPt>
            <c:idx val="2"/>
            <c:bubble3D val="0"/>
            <c:spPr>
              <a:solidFill>
                <a:srgbClr val="6B3FA0"/>
              </a:solidFill>
              <a:effectLst/>
            </c:spPr>
          </c:dPt>
          <c:dPt>
            <c:idx val="3"/>
            <c:bubble3D val="0"/>
            <c:spPr>
              <a:solidFill>
                <a:srgbClr val="D8CCE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Blinkit</c:v>
                </c:pt>
                <c:pt idx="1">
                  <c:v>Zepto</c:v>
                </c:pt>
                <c:pt idx="2">
                  <c:v>Instamart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47</c:v>
                </c:pt>
                <c:pt idx="1">
                  <c:v>23</c:v>
                </c:pt>
                <c:pt idx="2">
                  <c:v>23</c:v>
                </c:pt>
                <c:pt idx="3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15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4023360" cy="402336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 ·  INDIA  · 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ZEPTO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B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Teardown &amp; Growth Strategy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delivery, evidence-driven research, and the fight for second place in a three-way quick-commerce war.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·  [ Your LinkedIn ]  ·  PM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Funded, and Still Fighting for Trust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4233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three-way war, not a monopoly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leads with ~45–50% share; Zepto and Instamart trade second place around 20–29% depending on the metric and month.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08192" y="1600200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1856232"/>
            <a:ext cx="502920" cy="50292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68312" y="1819656"/>
            <a:ext cx="4233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real, profitability isn’t yet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2512" y="251460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 grew ~104% YoY to ₹11,550 Cr, but net loss widened to ₹5,910 Cr ahead of a planned 2026 IPO.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15384"/>
            <a:ext cx="4233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lives in fulfillment and pricing, not discovery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0328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filings and public reviews consistently cite missing items, spoiled products, hidden fees, and refund friction — not app usability or catalog breadth.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08192" y="3995928"/>
            <a:ext cx="5468112" cy="2212848"/>
          </a:xfrm>
          <a:prstGeom prst="roundRect">
            <a:avLst>
              <a:gd name="adj" fmla="val 3719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4251960"/>
            <a:ext cx="502920" cy="502920"/>
          </a:xfrm>
          <a:prstGeom prst="ellipse">
            <a:avLst/>
          </a:prstGeom>
          <a:solidFill>
            <a:srgbClr val="1FAE7A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68312" y="4215384"/>
            <a:ext cx="4233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opening is trust-driven frequency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82512" y="4910328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emergency, one-off orders into a weekly habit means closing the fulfillment-and-pricing trust gap before adding more categories.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Commerce Has Become India’s Default Grocery Aisle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Quick-Commerce Share, 2026 (est.)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87452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691640"/>
            <a:ext cx="5422392" cy="1051560"/>
          </a:xfrm>
          <a:prstGeom prst="roundRect">
            <a:avLst>
              <a:gd name="adj" fmla="val 6957"/>
            </a:avLst>
          </a:prstGeom>
          <a:solidFill>
            <a:srgbClr val="EDE7F6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₹963B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37960" y="22951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GMV, CY2025 (~$11.3B) — projected to grow 5–7x by 2030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2926080"/>
            <a:ext cx="5422392" cy="1051560"/>
          </a:xfrm>
          <a:prstGeom prst="roundRect">
            <a:avLst>
              <a:gd name="adj" fmla="val 6957"/>
            </a:avLst>
          </a:prstGeom>
          <a:solidFill>
            <a:srgbClr val="EDE7F6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~2/3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37960" y="35295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e-grocery orders now placed via quick commerce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4160520"/>
            <a:ext cx="5422392" cy="1051560"/>
          </a:xfrm>
          <a:prstGeom prst="roundRect">
            <a:avLst>
              <a:gd name="adj" fmla="val 6957"/>
            </a:avLst>
          </a:prstGeom>
          <a:solidFill>
            <a:srgbClr val="EDE7F6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537960" y="47640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players now competing: Blinkit, Zepto, Instamart, BigBasket, Amazon Now, Flipkart Minutes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blend GMV and order-volume share and vary by source/city — read as directional, not precise.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Zepto, at IPO-Filing Altitude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688336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1645920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2021, by Aadit Palicha &amp; Kaivalya Vohra (Stanford dropouts)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08192" y="2688336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08192" y="164592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08392" y="1645920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$7B — Series J/H, Oct 2025, led by CalPERS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16352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57400" y="2816352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1,089 operational (Mar ’26), ~20% of orders now from tier-2 cities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08192" y="3858768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2816352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08392" y="2816352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₹11,550 Cr, up ~104% YoY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86784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NET LOSS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3986784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₹5,910 Cr, widened from ₹4,700 Cr in FY25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08192" y="5029200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3986784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08392" y="3986784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₹1,640 Cr, up ~151% YoY — a growing share of the topline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6199632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157216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RESERVE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57400" y="5157216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$600–700M — thinnest of the top 3 (vs. Blinkit’s $1.9B)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08192" y="6199632"/>
            <a:ext cx="5468112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5157216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PLAN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08392" y="5157216"/>
            <a:ext cx="3867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filed confidentially with SEBI; targeting ₹9,500–11,000 Cr issue, H2 2026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Over Opinion: Applying the Mom Test to Zepto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users whether they’d like a new Zepto feature invites polite lies. The Mom Test protocol reframes every question around historical behavior, which is far harder to fake.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2704"/>
                <a:gridCol w="56418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✗  Weak, opinion-based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✓  Mom Test reframe</a:t>
                      </a:r>
                      <a:endParaRPr lang="en-US" sz="12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E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31536"/>
                          </a:solidFill>
                        </a:rPr>
                        <a:t>“Would you use 10-minute electronics delivery?”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31536"/>
                          </a:solidFill>
                        </a:rPr>
                        <a:t>“Walk me through the last time you urgently needed a charger or cable — what did you actually do?”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31536"/>
                          </a:solidFill>
                        </a:rPr>
                        <a:t>“Would instant refunds make you trust Zepto more?”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31536"/>
                          </a:solidFill>
                        </a:rPr>
                        <a:t>“Tell me about the last time an order went wrong. What did you do next, and how long did it take?”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31536"/>
                          </a:solidFill>
                        </a:rPr>
                        <a:t>“Do you like the substitution feature?”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31536"/>
                          </a:solidFill>
                        </a:rPr>
                        <a:t>“Show me the last substitution you got. Did you keep it, return it, or complain?”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evaluation, in parallel: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interviews, the app is audited against Nielsen usability heuristics to catch friction users won’t always articulate unprompted (next slide).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DE7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692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gap: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teardown also draws on public-record sources — the CCPA order, FSSAI/FDA inspection notices, Trustpilot, and a dedicated Reddit dark-pattern tracking community. The 5+ structured interviews above are the template to run next; they have not been conducted yet.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Experience Breaks 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052560" y="932688"/>
            <a:ext cx="2679192" cy="914400"/>
          </a:xfrm>
          <a:prstGeom prst="roundRect">
            <a:avLst>
              <a:gd name="adj" fmla="val 8000"/>
            </a:avLst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987552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/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89720" y="1371600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category rating; only ~20% would recommend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of system status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60520" y="2029968"/>
            <a:ext cx="7571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‘10-minute’ promise sets a precise expectation, but there’s no reliable real-time signal for substitutions or partial fulfillment before checkout.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90779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recovery &amp; user control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60520" y="2907792"/>
            <a:ext cx="7571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require screenshots and multi-day chat threads; users describe getting ‘trapped in an endless cycle of automated support.’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7200" y="3813048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785616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between system and real world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60520" y="3785616"/>
            <a:ext cx="7571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repeatedly cite spoiled or stale items (milk, eggs, produce) arriving under a freshness promise the UI implies but doesn’t verify.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57200" y="4690872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663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across sessions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60520" y="4663440"/>
            <a:ext cx="7571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items ‘even though full payment has been made’ recur across complaints — a break that compounds with each occurrence (Negativity Bias, see Slide 11).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7200" y="5568696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54126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Freedom from hidden costs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60520" y="5541264"/>
            <a:ext cx="7571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₹7 lakh CCPA fine for drip-pricing and basket-sneaking (Dec 2025) shows the checkout flow itself violated user-control heuristics — not just hygiene ones.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the Real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BEAE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“Zepto has quality and trust issues.”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B2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timeframe, no city, no source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B2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“Issues” bundles pricing, fulfillment, hygiene, and support into one vague word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B2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falsifiable — can’t tell if a fix worked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68112" cy="4297680"/>
          </a:xfrm>
          <a:prstGeom prst="roundRect">
            <a:avLst>
              <a:gd name="adj" fmla="val 2128"/>
            </a:avLst>
          </a:prstGeom>
          <a:solidFill>
            <a:srgbClr val="E9F8F1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1FAE7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2606040"/>
            <a:ext cx="4553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May–Dec 2025, Zepto drew FSSAI/FDA licensing action in 2+ metros for expired-stock and pest violations, plus a ₹7 lakh CCPA fine for drip-pricing and basket-sneaking — while missing items and refund denial are the most-cited complaints across Trustpilot, consumer-court filings, and independent review platforms (avg. 1.5/5).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5394960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CCPA order (Dec 2025) · Maharashtra FDA + GHMC/CMC inspection reports (2025) · Trustpilot · Consumer Court Advisor filings · independent review platforms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ROOT CAUSE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Cause: Five Whys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customers hit missing items, expired goods, and surprise fees?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77840" y="166420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Dark-store ops are tuned for pick speed (sub-60-second fulfilment), not verification — substitutions ship without explicit consent, and checkout fees were being A/B-tested live on paying users.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2221992"/>
            <a:ext cx="0" cy="402336"/>
          </a:xfrm>
          <a:prstGeom prst="line">
            <a:avLst/>
          </a:prstGeom>
          <a:noFill/>
          <a:ln w="19050">
            <a:solidFill>
              <a:srgbClr val="D8CCE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624328"/>
            <a:ext cx="502920" cy="50292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59689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fulfillment and quality control lag?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77840" y="259689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staffing optimizes for SKU velocity across 1,000+ stores; hygiene audits (Dharavi, Hyderabad) found expired stock shelved next to fresh, with no real-time stock-confidence signal before checkout.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8660" y="3154680"/>
            <a:ext cx="0" cy="402336"/>
          </a:xfrm>
          <a:prstGeom prst="line">
            <a:avLst/>
          </a:prstGeom>
          <a:noFill/>
          <a:ln w="19050">
            <a:solidFill>
              <a:srgbClr val="D8CC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557016"/>
            <a:ext cx="502920" cy="50292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52958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experiment with fees and thin-staff ops at all?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77840" y="3529584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reserve (~$600–700M) is the thinnest of the top 3 quick-commerce players — pressure to lift AOV/take-rate and hold down headcount ahead of a 2026 IPO roadshow.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" y="4087368"/>
            <a:ext cx="0" cy="402336"/>
          </a:xfrm>
          <a:prstGeom prst="line">
            <a:avLst/>
          </a:prstGeom>
          <a:noFill/>
          <a:ln w="19050">
            <a:solidFill>
              <a:srgbClr val="D8CC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4489704"/>
            <a:ext cx="502920" cy="50292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446227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become a public trust crisis, not a quiet fix?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77840" y="446227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handling itself fails: refund denials and multi-day chat threads turn one bad order into an escalation — Reddit, consumer courts, CCPA.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" y="5020056"/>
            <a:ext cx="0" cy="402336"/>
          </a:xfrm>
          <a:prstGeom prst="line">
            <a:avLst/>
          </a:prstGeom>
          <a:noFill/>
          <a:ln w="19050">
            <a:solidFill>
              <a:srgbClr val="D8CCE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5422392"/>
            <a:ext cx="502920" cy="50292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5394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matter now?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77840" y="5394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target window (H2 2026, ₹9,500–11,000 Cr issue) puts investor and media scrutiny at its peak — trust is now a business-critical metric, not a PR footnote.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Archetypes, Drawn From Usage Patterns and Complaint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3D125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74520"/>
            <a:ext cx="3611880" cy="228600"/>
          </a:xfrm>
          <a:prstGeom prst="rect">
            <a:avLst/>
          </a:prstGeom>
          <a:solidFill>
            <a:srgbClr val="3D125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Bengaluru · Marketing professional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HABITUAL REORDERER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4x/week for convenience; two bad refund experiences are enough to make her question the habit entirely.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3246120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6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don’t mind paying more — I mind not knowing if it’ll actually show up right.”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33672" y="164592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3672" y="1645920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33672" y="1874520"/>
            <a:ext cx="3611880" cy="2286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8" name="Shape 16"/>
          <p:cNvSpPr/>
          <p:nvPr/>
        </p:nvSpPr>
        <p:spPr>
          <a:xfrm>
            <a:off x="4416552" y="2286000"/>
            <a:ext cx="502920" cy="50292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9" name="Text 17"/>
          <p:cNvSpPr/>
          <p:nvPr/>
        </p:nvSpPr>
        <p:spPr>
          <a:xfrm>
            <a:off x="441655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56632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16552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· Delhi NCR · Student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16552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 SHOPPER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16552" y="34747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frequency, high emotional stakes — needs medicine or a forgotten item now, and is price-insensitive in the moment.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552" y="5120640"/>
            <a:ext cx="3246120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6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just needed it in the next ten minutes. I wasn’t comparison-shopping.”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10144" y="164592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0144" y="1645920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FF4D5E"/>
          </a:solidFill>
          <a:ln/>
        </p:spPr>
      </p:sp>
      <p:sp>
        <p:nvSpPr>
          <p:cNvPr id="28" name="Shape 26"/>
          <p:cNvSpPr/>
          <p:nvPr/>
        </p:nvSpPr>
        <p:spPr>
          <a:xfrm>
            <a:off x="8010144" y="1874520"/>
            <a:ext cx="3611880" cy="22860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3024" y="2286000"/>
            <a:ext cx="502920" cy="50292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30" name="Text 28"/>
          <p:cNvSpPr/>
          <p:nvPr/>
        </p:nvSpPr>
        <p:spPr>
          <a:xfrm>
            <a:off x="819302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833104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Meena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93024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· Mumbai · Homemaker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93024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SKEPTICAL SWITCHER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93024" y="34747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Price-sensitive; checks Zepto, Blinkit, and Instamart before most orders. Once received pet food manufactured 13 months earlier, sold as current stock — one incident like that and she’s gone for weeks.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93024" y="5120640"/>
            <a:ext cx="3246120" cy="0"/>
          </a:xfrm>
          <a:prstGeom prst="line">
            <a:avLst/>
          </a:prstGeom>
          <a:noFill/>
          <a:ln w="12700">
            <a:solidFill>
              <a:srgbClr val="E0D3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93024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6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the eggs come broken again, I’m just going back to the app that doesn’t do that.”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Priya’s Order, From Craving to Complaint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666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80437" y="15544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B7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123237" cy="384048"/>
          </a:xfrm>
          <a:prstGeom prst="roundRect">
            <a:avLst>
              <a:gd name="adj" fmla="val 50000"/>
            </a:avLst>
          </a:prstGeom>
          <a:solidFill>
            <a:srgbClr val="1FAE7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2123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6974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29260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app out of habit for a 6pm snack craving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EDE7F6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5262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47548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recently-ordered items faster (Availability Heuristic)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5029" y="1600200"/>
            <a:ext cx="365760" cy="36576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5029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2229" y="1581912"/>
            <a:ext cx="1666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8266" y="15544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B7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5029" y="2103120"/>
            <a:ext cx="2123237" cy="384048"/>
          </a:xfrm>
          <a:prstGeom prst="roundRect">
            <a:avLst>
              <a:gd name="adj" fmla="val 50000"/>
            </a:avLst>
          </a:prstGeom>
          <a:solidFill>
            <a:srgbClr val="1FAE7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5029" y="2103120"/>
            <a:ext cx="2123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5029" y="26060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54757" y="26974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54757" y="29260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trending items, checks 10-min ETA badge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5029" y="44348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EDE7F6"/>
          </a:solidFill>
          <a:ln/>
        </p:spPr>
      </p:sp>
      <p:sp>
        <p:nvSpPr>
          <p:cNvPr id="26" name="Text 24"/>
          <p:cNvSpPr/>
          <p:nvPr/>
        </p:nvSpPr>
        <p:spPr>
          <a:xfrm>
            <a:off x="2854757" y="45262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54757" y="47548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stock confidence, not just ETA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32858" y="1600200"/>
            <a:ext cx="365760" cy="36576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9" name="Text 27"/>
          <p:cNvSpPr/>
          <p:nvPr/>
        </p:nvSpPr>
        <p:spPr>
          <a:xfrm>
            <a:off x="503285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90058" y="1581912"/>
            <a:ext cx="1666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6094" y="15544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B7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32858" y="2103120"/>
            <a:ext cx="2123237" cy="384048"/>
          </a:xfrm>
          <a:prstGeom prst="roundRect">
            <a:avLst>
              <a:gd name="adj" fmla="val 50000"/>
            </a:avLst>
          </a:prstGeom>
          <a:solidFill>
            <a:srgbClr val="E0A32E"/>
          </a:solidFill>
          <a:ln/>
        </p:spPr>
      </p:sp>
      <p:sp>
        <p:nvSpPr>
          <p:cNvPr id="33" name="Text 31"/>
          <p:cNvSpPr/>
          <p:nvPr/>
        </p:nvSpPr>
        <p:spPr>
          <a:xfrm>
            <a:off x="5032858" y="2103120"/>
            <a:ext cx="2123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UNEASY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32858" y="26060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142586" y="26974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42586" y="29260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out — sees a substitution warning flash by, plus a new handling fee not shown on the product page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32858" y="44348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EDE7F6"/>
          </a:solidFill>
          <a:ln/>
        </p:spPr>
      </p:sp>
      <p:sp>
        <p:nvSpPr>
          <p:cNvPr id="38" name="Text 36"/>
          <p:cNvSpPr/>
          <p:nvPr/>
        </p:nvSpPr>
        <p:spPr>
          <a:xfrm>
            <a:off x="5142586" y="45262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42586" y="47548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explicit substitution consent and lock the final price before checkout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20686" y="1600200"/>
            <a:ext cx="365760" cy="36576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41" name="Text 39"/>
          <p:cNvSpPr/>
          <p:nvPr/>
        </p:nvSpPr>
        <p:spPr>
          <a:xfrm>
            <a:off x="732068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7886" y="1581912"/>
            <a:ext cx="1666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443923" y="15544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B7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20686" y="2103120"/>
            <a:ext cx="2123237" cy="384048"/>
          </a:xfrm>
          <a:prstGeom prst="roundRect">
            <a:avLst>
              <a:gd name="adj" fmla="val 50000"/>
            </a:avLst>
          </a:prstGeom>
          <a:solidFill>
            <a:srgbClr val="E0A32E"/>
          </a:solidFill>
          <a:ln/>
        </p:spPr>
      </p:sp>
      <p:sp>
        <p:nvSpPr>
          <p:cNvPr id="45" name="Text 43"/>
          <p:cNvSpPr/>
          <p:nvPr/>
        </p:nvSpPr>
        <p:spPr>
          <a:xfrm>
            <a:off x="7320686" y="2103120"/>
            <a:ext cx="2123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20686" y="26060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7430414" y="26974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30414" y="29260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rider on map; order arrives with 1 item missing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20686" y="44348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EDE7F6"/>
          </a:solidFill>
          <a:ln/>
        </p:spPr>
      </p:sp>
      <p:sp>
        <p:nvSpPr>
          <p:cNvPr id="50" name="Text 48"/>
          <p:cNvSpPr/>
          <p:nvPr/>
        </p:nvSpPr>
        <p:spPr>
          <a:xfrm>
            <a:off x="7430414" y="45262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30414" y="47548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‘we noticed an issue’ flag before she has to ask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608515" y="1600200"/>
            <a:ext cx="365760" cy="36576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53" name="Text 51"/>
          <p:cNvSpPr/>
          <p:nvPr/>
        </p:nvSpPr>
        <p:spPr>
          <a:xfrm>
            <a:off x="9608515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065715" y="1581912"/>
            <a:ext cx="1666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Post-Order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608515" y="2103120"/>
            <a:ext cx="2123237" cy="384048"/>
          </a:xfrm>
          <a:prstGeom prst="roundRect">
            <a:avLst>
              <a:gd name="adj" fmla="val 50000"/>
            </a:avLst>
          </a:prstGeom>
          <a:solidFill>
            <a:srgbClr val="FF4D5E"/>
          </a:solidFill>
          <a:ln/>
        </p:spPr>
      </p:sp>
      <p:sp>
        <p:nvSpPr>
          <p:cNvPr id="56" name="Text 54"/>
          <p:cNvSpPr/>
          <p:nvPr/>
        </p:nvSpPr>
        <p:spPr>
          <a:xfrm>
            <a:off x="9608515" y="2103120"/>
            <a:ext cx="21232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→ RELIEVED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608515" y="26060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9718243" y="26974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718243" y="29260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chat support, screenshots invoice, waits for refund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608515" y="4434840"/>
            <a:ext cx="2123237" cy="1691640"/>
          </a:xfrm>
          <a:prstGeom prst="roundRect">
            <a:avLst>
              <a:gd name="adj" fmla="val 4324"/>
            </a:avLst>
          </a:prstGeom>
          <a:solidFill>
            <a:srgbClr val="EDE7F6"/>
          </a:solidFill>
          <a:ln/>
        </p:spPr>
      </p:sp>
      <p:sp>
        <p:nvSpPr>
          <p:cNvPr id="61" name="Text 59"/>
          <p:cNvSpPr/>
          <p:nvPr/>
        </p:nvSpPr>
        <p:spPr>
          <a:xfrm>
            <a:off x="9718243" y="4526280"/>
            <a:ext cx="19037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718243" y="4754880"/>
            <a:ext cx="190378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One-tap, photo-based instant refund — no chat queue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PSYCHOLOGY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Biases Already at Work Inside Zepto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Bias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2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Zepto Mechanic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25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1536"/>
                          </a:solidFill>
                        </a:rPr>
                        <a:t>Planning Fallacy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3A5C"/>
                          </a:solidFill>
                        </a:rPr>
                        <a:t>The ‘10-minute’ promise is itself an anchor — the sharper the promise, the more painfully any miss registers.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1536"/>
                          </a:solidFill>
                        </a:rPr>
                        <a:t>Negativity Bias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3A5C"/>
                          </a:solidFill>
                        </a:rPr>
                        <a:t>One spoiled item or missing SKU is remembered far more vividly than ten clean deliveries — explaining the outsized weight of refund complaints in reviews.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1536"/>
                          </a:solidFill>
                        </a:rPr>
                        <a:t>Zeigarnik Effect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3A5C"/>
                          </a:solidFill>
                        </a:rPr>
                        <a:t>Abandoned carts and ‘items waiting’ nudges pull users back to finish an interrupted purchase.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1536"/>
                          </a:solidFill>
                        </a:rPr>
                        <a:t>Availability Heuristic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3A5C"/>
                          </a:solidFill>
                        </a:rPr>
                        <a:t>‘Trending near you’ and recently-ordered modules lean on what’s top-of-mind rather than a full catalog search.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1536"/>
                          </a:solidFill>
                        </a:rPr>
                        <a:t>Endowment Effect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3A5C"/>
                          </a:solidFill>
                        </a:rPr>
                        <a:t>Saved addresses, default payment methods, and Zepto Super membership raise the switching cost of leaving.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1536"/>
                          </a:solidFill>
                        </a:rPr>
                        <a:t>Peak-End Rule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3A5C"/>
                          </a:solidFill>
                        </a:rPr>
                        <a:t>A slow, chat-queue refund is the last thing an unhappy user experiences — a one-tap resolution could flip a bad ‘end’ into a neutral one (see Slide 12).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PSYCHOLOGY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Epics, Each Traced to a Research Finding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Freshness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FSSAI/FDA hygiene violations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154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Pack-time expiry-date photo, visible in order tracking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 near-expiry SKUs in pet food/dairy/meds unless flagged ‘near-expiry discount’ with consent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64592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87452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56632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Integrity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62272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heuristic eval + journey 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62272" y="2834640"/>
            <a:ext cx="3154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substitution consent before charging — no silent swaps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stock-confidence indicator before checkout, not just an ETA badge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‘we noticed an issue’ flag before the customer has to ask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164592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38744" y="1874520"/>
            <a:ext cx="457200" cy="45720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33104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Pricing Loop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38744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CCPA fine + complaint records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38744" y="2834640"/>
            <a:ext cx="3154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price shown from the product page — no late fee additions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One-tap, photo-matched instant refund below a rupee threshold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‘suspicious activity’ freeze without a disclosed human review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Epic Ships First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Verified Freshness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Fulfillment Integrity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2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Trust &amp; Pricing Loop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2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31536"/>
                          </a:solidFill>
                        </a:rPr>
                        <a:t>Reach (1–5)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5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5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31536"/>
                          </a:solidFill>
                        </a:rPr>
                        <a:t>Impact — user (1–5)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5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31536"/>
                          </a:solidFill>
                        </a:rPr>
                        <a:t>Impact — business (1–5)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3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31536"/>
                          </a:solidFill>
                        </a:rPr>
                        <a:t>Confidence (1–5)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3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31536"/>
                          </a:solidFill>
                        </a:rPr>
                        <a:t>Effort (1–5, higher = harder)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4 — hardware/ops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3 — app + ops signal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31536"/>
                          </a:solidFill>
                        </a:rPr>
                        <a:t>2 — mostly software</a:t>
                      </a:r>
                      <a:endParaRPr lang="en-US" sz="108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1536"/>
                          </a:solidFill>
                        </a:rPr>
                        <a:t>Priority score*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1259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1259"/>
                          </a:solidFill>
                        </a:rPr>
                        <a:t>14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1259"/>
                          </a:solidFill>
                        </a:rPr>
                        <a:t>15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D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937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*Priority score = Reach + Impact(User) + Impact(Business) + Confidence − Effort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303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order: Trust &amp; Pricing Loop (15) → Fulfillment Integrity (14) → Verified Freshness (11) — software-first, hardware-heavy last.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595360" y="1645920"/>
            <a:ext cx="3136392" cy="4206240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THINKING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778240" y="2331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ORDER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78240" y="2606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friction drops; escalations to Reddit/consumer court shrink.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8778240" y="3520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ORDER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778240" y="3794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cost per order falls; NPS and habit frequency recover — a pre-IPO retention story.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8778240" y="4709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NORTH STAR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778240" y="4983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trust-driven drop-offs from Weekly Orders per Active User (next slide).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North Star Metric for a Frequency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08960" y="1508760"/>
            <a:ext cx="5971032" cy="868680"/>
          </a:xfrm>
          <a:prstGeom prst="roundRect">
            <a:avLst>
              <a:gd name="adj" fmla="val 10526"/>
            </a:avLst>
          </a:prstGeom>
          <a:solidFill>
            <a:srgbClr val="3D1259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1618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Orders per Active User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95148" y="26517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148" y="26517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3D1259"/>
          </a:solidFill>
          <a:ln/>
        </p:spPr>
      </p:sp>
      <p:sp>
        <p:nvSpPr>
          <p:cNvPr id="9" name="Shape 7"/>
          <p:cNvSpPr/>
          <p:nvPr/>
        </p:nvSpPr>
        <p:spPr>
          <a:xfrm>
            <a:off x="495148" y="2834640"/>
            <a:ext cx="2697480" cy="201168"/>
          </a:xfrm>
          <a:prstGeom prst="rect">
            <a:avLst/>
          </a:prstGeom>
          <a:solidFill>
            <a:srgbClr val="3D1259"/>
          </a:solidFill>
          <a:ln/>
        </p:spPr>
      </p:sp>
      <p:sp>
        <p:nvSpPr>
          <p:cNvPr id="10" name="Text 8"/>
          <p:cNvSpPr/>
          <p:nvPr/>
        </p:nvSpPr>
        <p:spPr>
          <a:xfrm>
            <a:off x="495148" y="2651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2308" y="315468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+ reactivated users placing at least one order this week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329788" y="26517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9788" y="26517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6B3FA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9788" y="2834640"/>
            <a:ext cx="2697480" cy="20116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5" name="Text 13"/>
          <p:cNvSpPr/>
          <p:nvPr/>
        </p:nvSpPr>
        <p:spPr>
          <a:xfrm>
            <a:off x="3329788" y="2651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66948" y="315468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 / AOV per order — pharmacy, Café, and private label as expansion levers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164428" y="26517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4428" y="26517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FA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64428" y="2834640"/>
            <a:ext cx="2697480" cy="201168"/>
          </a:xfrm>
          <a:prstGeom prst="rect">
            <a:avLst/>
          </a:prstGeom>
          <a:solidFill>
            <a:srgbClr val="1FA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164428" y="2651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1588" y="315468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active user per week — the core habit-formation signal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999068" y="26517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9068" y="26517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FF4D5E"/>
          </a:solidFill>
          <a:ln/>
        </p:spPr>
      </p:sp>
      <p:sp>
        <p:nvSpPr>
          <p:cNvPr id="24" name="Shape 22"/>
          <p:cNvSpPr/>
          <p:nvPr/>
        </p:nvSpPr>
        <p:spPr>
          <a:xfrm>
            <a:off x="8999068" y="2834640"/>
            <a:ext cx="2697480" cy="20116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25" name="Text 23"/>
          <p:cNvSpPr/>
          <p:nvPr/>
        </p:nvSpPr>
        <p:spPr>
          <a:xfrm>
            <a:off x="8999068" y="2651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36228" y="315468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App-open-to-checkout time · fulfillment accuracy · complaint-to-resolution time · refund auto-approval rate · FSSAI/CCPA violations (trailing 12mo)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EDE7F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749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D1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vanity-metric trap: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‘Referral invites sent’ looks healthy but proves nothing. Track actual invite-to-order conversion and Time to First Referral instead — two-sided referral incentives convert 2–3x better than one-sided ones.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FRAMEWORK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Trust-First Fulfillment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framework above points to the same conclusion: Zepto’s growth ceiling isn’t discovery or speed — it’s whether an order arrives as promised, at the price first shown. Fix that, and the psychology already at work (Zeigarnik, Endowment) starts compounding retention instead of fighting Negativity Bias.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43200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substitution consent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an explicit yes/no on any substitution before charging — closes the ‘visibility of system status’ gap from the heuristic audit.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33672" y="2514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2743200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62272" y="3337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Photo-based instant refund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62272" y="3840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submit a photo of a damaged/spoiled/missing item for automatic same-session refund, replacing the multi-day chat queue.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10144" y="25146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6F3FB"/>
          </a:solidFill>
          <a:ln w="12700">
            <a:solidFill>
              <a:srgbClr val="E0D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8744" y="2743200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8744" y="3337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 confidence signal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38744" y="3840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simple sourced-today / batch-verified badge on perishables to directly counter the spoiled-item complaint pattern.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3D125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749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refund-driven churn among habitual reorderers, a defensible answer to the #1 complaint category ahead of IPO scrutiny, and a fulfillment-trust moat competitors can’t copy by simply adding more dark stores.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From Here, in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Trust &amp; Pricing Loop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06440" y="166420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score, software-only — directly stops the refund-denial and hidden-fee pattern behind the CCPA fine.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87752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560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Fulfillment Integrity 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2560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‘visibility of system status’ and substitution-consent gaps flagged in the heuristic audit.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83864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564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pack-time photo + expiry capture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345643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pet food, dairy, and medicine — the categories where ‘expired’ carries real health stakes.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379976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3525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a quarterly dark-store audit pass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435254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compliance obligation into a public trust metric ahead of IPO scrutiny.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276088"/>
            <a:ext cx="457200" cy="4572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24865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1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Weekly Orders per Active User by complaint cohort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5248656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what a bad order actually costs in frequency — the number that makes this a business case, not just an ethics one.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Moments That Close the Trust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3200400" cy="4892040"/>
          </a:xfrm>
          <a:prstGeom prst="roundRect">
            <a:avLst>
              <a:gd name="adj" fmla="val 7143"/>
            </a:avLst>
          </a:prstGeom>
          <a:solidFill>
            <a:srgbClr val="241A38"/>
          </a:solidFill>
          <a:ln w="25400">
            <a:solidFill>
              <a:srgbClr val="3D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645920"/>
            <a:ext cx="2980944" cy="4434840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09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075688"/>
            <a:ext cx="2834640" cy="1115568"/>
          </a:xfrm>
          <a:prstGeom prst="roundRect">
            <a:avLst>
              <a:gd name="adj" fmla="val 5738"/>
            </a:avLst>
          </a:prstGeom>
          <a:solidFill>
            <a:srgbClr val="E9F8F1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Freshness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Amul Milk, 1L — packed &amp; photographed 9:38 AM. Best before 21 Jul 2026.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1097280" y="3319272"/>
            <a:ext cx="2834640" cy="1261872"/>
          </a:xfrm>
          <a:prstGeom prst="roundRect">
            <a:avLst>
              <a:gd name="adj" fmla="val 5072"/>
            </a:avLst>
          </a:prstGeom>
          <a:solidFill>
            <a:srgbClr val="FCF1DC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Substitution Consent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3685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stock: Amul Butter 500g. Substitute with 2x 200g at the same total price?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1234440" y="4215384"/>
            <a:ext cx="1005840" cy="301752"/>
          </a:xfrm>
          <a:prstGeom prst="roundRect">
            <a:avLst>
              <a:gd name="adj" fmla="val 48485"/>
            </a:avLst>
          </a:prstGeom>
          <a:solidFill>
            <a:srgbClr val="E0A32E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1538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swap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331720" y="4215384"/>
            <a:ext cx="1325880" cy="301752"/>
          </a:xfrm>
          <a:prstGeom prst="roundRect">
            <a:avLst>
              <a:gd name="adj" fmla="val 48485"/>
            </a:avLst>
          </a:prstGeom>
          <a:solidFill>
            <a:srgbClr val="E6D9CE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42153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refund item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97280" y="470916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One-Tap Refund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34440" y="5074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231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Peaches, 500g — photo doesn’t match what arrived?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1234440" y="5376672"/>
            <a:ext cx="1920240" cy="301752"/>
          </a:xfrm>
          <a:prstGeom prst="roundRect">
            <a:avLst>
              <a:gd name="adj" fmla="val 48485"/>
            </a:avLst>
          </a:prstGeom>
          <a:solidFill>
            <a:srgbClr val="FF4D5E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3766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for instant refund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rgbClr val="1FAE7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1691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Freshness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57800" y="20848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timestamped photo of the expiry label is taken at pack time — not left to arrive as a surprise.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3246120"/>
            <a:ext cx="457200" cy="45720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3200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Integrity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57800" y="359359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items require explicit swap consent at the same price — never a silent substitution.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4754880"/>
            <a:ext cx="457200" cy="45720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4709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Pricing Loop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57800" y="51023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mismatched or damaged item is auto-refunded below a threshold — no scripted denial, no chat queue, no account freeze.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1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6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3D125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10-minute promise only compounds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what arrives matches what was promised.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built Zepto’s reputation. Trust in fulfillment and pricing will decide whether that reputation survives contact with an IPO prospectus and two well-funded rivals.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D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2026-07-18T14:08:45Z</dcterms:created>
  <dcterms:modified xsi:type="dcterms:W3CDTF">2026-07-18T14:08:45Z</dcterms:modified>
</cp:coreProperties>
</file>